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225" autoAdjust="0"/>
  </p:normalViewPr>
  <p:slideViewPr>
    <p:cSldViewPr snapToGrid="0" snapToObjects="1">
      <p:cViewPr varScale="1">
        <p:scale>
          <a:sx n="61" d="100"/>
          <a:sy n="61" d="100"/>
        </p:scale>
        <p:origin x="86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8753422" cy="17286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HEALTHCARE DATA</a:t>
            </a:r>
            <a:r>
              <a:rPr lang="en-US" dirty="0"/>
              <a:t>  </a:t>
            </a:r>
            <a:r>
              <a:rPr dirty="0"/>
              <a:t>ANALYSIS &amp; VISUALIZATION</a:t>
            </a:r>
          </a:p>
          <a:p>
            <a:pPr>
              <a:defRPr sz="1900">
                <a:solidFill>
                  <a:srgbClr val="DCF0F2"/>
                </a:solidFill>
                <a:latin typeface="Aptos"/>
              </a:defRPr>
            </a:pPr>
            <a:r>
              <a:rPr sz="2400" dirty="0"/>
              <a:t>Defense Presentation</a:t>
            </a:r>
          </a:p>
          <a:p>
            <a:pPr>
              <a:spcBef>
                <a:spcPts val="1800"/>
              </a:spcBef>
              <a:defRPr sz="1500">
                <a:solidFill>
                  <a:srgbClr val="FFFFFF"/>
                </a:solidFill>
                <a:latin typeface="Aptos"/>
              </a:defRPr>
            </a:pPr>
            <a:r>
              <a:rPr sz="2000" b="1" dirty="0"/>
              <a:t>Presented by:</a:t>
            </a:r>
            <a:r>
              <a:rPr lang="en-US" sz="2000" b="1" dirty="0"/>
              <a:t> </a:t>
            </a:r>
            <a:r>
              <a:rPr lang="en-US" sz="2000" b="1" dirty="0" err="1"/>
              <a:t>Safiriyu</a:t>
            </a:r>
            <a:r>
              <a:rPr lang="en-US" sz="2000" b="1" dirty="0"/>
              <a:t> </a:t>
            </a:r>
            <a:r>
              <a:rPr sz="2000" b="1" dirty="0"/>
              <a:t> Mariam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60520"/>
            <a:ext cx="283464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624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 </a:t>
            </a:r>
            <a:r>
              <a:rPr u="sng" dirty="0"/>
              <a:t>Introduction &amp;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92024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3017520" cy="157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Healthcare data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Large volumes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600" b="1" dirty="0"/>
              <a:t>Patient and operational data are generated continuously across healthcare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73152" cy="192024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17904"/>
            <a:ext cx="3017520" cy="157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Why analysis?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Find patterns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600" b="1" dirty="0"/>
              <a:t>Analysis helps reveal patterns that may be difficult to identify from raw data alone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73152" cy="1920240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517904"/>
            <a:ext cx="3017520" cy="157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Why visualization?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Communicate insights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600" b="1" dirty="0"/>
              <a:t>Visuals make complex information easier to understand and communicate.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86" y="4709160"/>
            <a:ext cx="1033272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430"/>
                </a:solidFill>
                <a:latin typeface="Aptos"/>
              </a:defRPr>
            </a:pPr>
            <a:r>
              <a:rPr sz="2000" b="1" dirty="0"/>
              <a:t>• This project transforms healthcare data into meaningful insights using analytics and visualization.</a:t>
            </a:r>
          </a:p>
          <a:p>
            <a:pPr>
              <a:spcAft>
                <a:spcPts val="800"/>
              </a:spcAft>
              <a:defRPr sz="1600">
                <a:solidFill>
                  <a:srgbClr val="1C2430"/>
                </a:solidFill>
                <a:latin typeface="Aptos"/>
              </a:defRPr>
            </a:pPr>
            <a:r>
              <a:rPr sz="2000" b="1" dirty="0"/>
              <a:t>• The analysis focuses on patient demographics, medical conditions, billing, length of stay and admission patterns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6947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1663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109728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0521" y="1480795"/>
            <a:ext cx="4800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400" dirty="0"/>
              <a:t>Challenge 1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600" b="1" dirty="0"/>
              <a:t>Difficulty identifying patient demographic patterns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1663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73152" cy="109728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6248" y="1472184"/>
            <a:ext cx="48006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400" dirty="0"/>
              <a:t>Challenge 2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600" b="1" dirty="0"/>
              <a:t>Limited visibility into the distribution of medical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43200"/>
            <a:ext cx="51663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73152" cy="109728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889504"/>
            <a:ext cx="4800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400" dirty="0"/>
              <a:t>Challenge 3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600" b="1" dirty="0"/>
              <a:t>Difficulty monitoring hospital billing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743200"/>
            <a:ext cx="51663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2743200"/>
            <a:ext cx="73152" cy="109728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2889504"/>
            <a:ext cx="4800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400" dirty="0"/>
              <a:t>Challenge 4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600" b="1" dirty="0"/>
              <a:t>Lack of clear insight into patient length of stay.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60520"/>
            <a:ext cx="51663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160520"/>
            <a:ext cx="73152" cy="109728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306824"/>
            <a:ext cx="4800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400" dirty="0"/>
              <a:t>Challenge 5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600" b="1" dirty="0"/>
              <a:t>Difficulty identifying trends in hospital admissions.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71616"/>
            <a:ext cx="215123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26F7E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48362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Aim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7" y="1144261"/>
            <a:ext cx="4251959" cy="42062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420624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26463"/>
            <a:ext cx="356616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AIM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To </a:t>
            </a:r>
            <a:r>
              <a:rPr sz="2400" b="1" dirty="0" err="1"/>
              <a:t>analyse</a:t>
            </a:r>
            <a:r>
              <a:rPr sz="2400" b="1" dirty="0"/>
              <a:t> healthcare data and develop an interactive Power BI dashboard for generating meaningful insights into patient demographics, medical conditions, billing and hospital stay patterns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280160"/>
            <a:ext cx="6446520" cy="42062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83480" y="1280160"/>
            <a:ext cx="73152" cy="420624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4648" y="1426463"/>
            <a:ext cx="6080759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OBJECTIVES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1. </a:t>
            </a:r>
            <a:r>
              <a:rPr sz="2400" b="1" dirty="0" err="1"/>
              <a:t>Analy</a:t>
            </a:r>
            <a:r>
              <a:rPr lang="en-US" sz="2400" b="1" dirty="0" err="1"/>
              <a:t>s</a:t>
            </a:r>
            <a:r>
              <a:rPr sz="2400" b="1" dirty="0" err="1"/>
              <a:t>e</a:t>
            </a:r>
            <a:r>
              <a:rPr sz="2400" b="1" dirty="0"/>
              <a:t> patient demographics</a:t>
            </a:r>
            <a:endParaRPr lang="en-US" sz="2400" b="1" dirty="0"/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2. Examine medical conditions</a:t>
            </a:r>
            <a:endParaRPr lang="en-US" sz="2400" b="1" dirty="0"/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3. </a:t>
            </a:r>
            <a:r>
              <a:rPr lang="en-US" sz="2400" b="1" dirty="0" err="1"/>
              <a:t>Analyse</a:t>
            </a:r>
            <a:r>
              <a:rPr sz="2400" b="1" dirty="0"/>
              <a:t> patient age groups</a:t>
            </a:r>
            <a:endParaRPr lang="en-US" sz="2400" b="1" dirty="0"/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4. Examine length of hospital stay</a:t>
            </a:r>
            <a:endParaRPr lang="en-US" sz="2400" b="1" dirty="0"/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5. </a:t>
            </a:r>
            <a:r>
              <a:rPr lang="en-US" sz="2400" b="1" dirty="0" err="1"/>
              <a:t>Analyse</a:t>
            </a:r>
            <a:r>
              <a:rPr sz="2400" b="1" dirty="0"/>
              <a:t> billing amounts</a:t>
            </a:r>
            <a:endParaRPr lang="en-US" sz="2400" b="1" dirty="0"/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6. Identify admission patterns</a:t>
            </a:r>
            <a:endParaRPr lang="en-US" sz="2400" b="1" dirty="0"/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7. Develop an interactive Power BI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31969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Dataset, Source &amp;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918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72184"/>
            <a:ext cx="2926080" cy="11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Dataset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Healthcare Patient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32918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73152" cy="1828800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29584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t>Source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t>Kaggle – Healthcare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154680" cy="17830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73152" cy="178308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72184"/>
            <a:ext cx="278892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Microsoft Excel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Initial data inspection and preparation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325880"/>
            <a:ext cx="3154680" cy="17830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1325880"/>
            <a:ext cx="73152" cy="178308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1508980"/>
            <a:ext cx="278892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Power Query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600" b="1" dirty="0"/>
              <a:t>Data cleaning and transformation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80"/>
            <a:ext cx="3154680" cy="17830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3383280"/>
            <a:ext cx="73152" cy="178308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3529584"/>
            <a:ext cx="278892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Power BI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Data modelling, analysis and visualization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383280"/>
            <a:ext cx="3154680" cy="17830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18120" y="3383280"/>
            <a:ext cx="73152" cy="178308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19288" y="3529584"/>
            <a:ext cx="27889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DAX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Measures and calculations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66666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 Data Cleaning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9022" y="1252620"/>
            <a:ext cx="457200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C2430"/>
                </a:solidFill>
                <a:latin typeface="Aptos"/>
              </a:defRPr>
            </a:pPr>
            <a:r>
              <a:rPr sz="2000" dirty="0"/>
              <a:t>• Reviewed and handled inconsistencies and missing or inconsistent values.</a:t>
            </a:r>
          </a:p>
          <a:p>
            <a:pPr>
              <a:spcAft>
                <a:spcPts val="800"/>
              </a:spcAft>
              <a:defRPr sz="1450">
                <a:solidFill>
                  <a:srgbClr val="1C2430"/>
                </a:solidFill>
                <a:latin typeface="Aptos"/>
              </a:defRPr>
            </a:pPr>
            <a:r>
              <a:rPr sz="2000" dirty="0"/>
              <a:t>• Standardized patient names using proper case.</a:t>
            </a:r>
          </a:p>
          <a:p>
            <a:pPr>
              <a:spcAft>
                <a:spcPts val="800"/>
              </a:spcAft>
              <a:defRPr sz="1450">
                <a:solidFill>
                  <a:srgbClr val="1C2430"/>
                </a:solidFill>
                <a:latin typeface="Aptos"/>
              </a:defRPr>
            </a:pPr>
            <a:r>
              <a:rPr sz="2000" dirty="0"/>
              <a:t>• Created age-group categories for demographic analysis.</a:t>
            </a:r>
          </a:p>
          <a:p>
            <a:pPr>
              <a:spcAft>
                <a:spcPts val="800"/>
              </a:spcAft>
              <a:defRPr sz="1450">
                <a:solidFill>
                  <a:srgbClr val="1C2430"/>
                </a:solidFill>
                <a:latin typeface="Aptos"/>
              </a:defRPr>
            </a:pPr>
            <a:r>
              <a:rPr sz="2000" dirty="0"/>
              <a:t>• Calculated length of stay from the date fields.</a:t>
            </a:r>
          </a:p>
          <a:p>
            <a:pPr>
              <a:spcAft>
                <a:spcPts val="800"/>
              </a:spcAft>
              <a:defRPr sz="1450">
                <a:solidFill>
                  <a:srgbClr val="1C2430"/>
                </a:solidFill>
                <a:latin typeface="Aptos"/>
              </a:defRPr>
            </a:pPr>
            <a:r>
              <a:rPr sz="2000" dirty="0"/>
              <a:t>• Extracted admission month for trend analysis.</a:t>
            </a:r>
          </a:p>
          <a:p>
            <a:pPr>
              <a:spcAft>
                <a:spcPts val="800"/>
              </a:spcAft>
              <a:defRPr sz="1450">
                <a:solidFill>
                  <a:srgbClr val="1C2430"/>
                </a:solidFill>
                <a:latin typeface="Aptos"/>
              </a:defRPr>
            </a:pPr>
            <a:r>
              <a:rPr sz="2000" dirty="0"/>
              <a:t>• Checked date fields and prepared the dataset for analysis.</a:t>
            </a:r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63504"/>
            <a:ext cx="5852160" cy="1159191"/>
          </a:xfrm>
          <a:prstGeom prst="rect">
            <a:avLst/>
          </a:prstGeom>
        </p:spPr>
      </p:pic>
      <p:pic>
        <p:nvPicPr>
          <p:cNvPr id="7" name="Picture 6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075989"/>
            <a:ext cx="5852160" cy="9346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05476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Data Model &amp; DAX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33172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1965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Excel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dirty="0"/>
              <a:t>Initial inspection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3108960" y="1810512"/>
            <a:ext cx="320040" cy="502920"/>
          </a:xfrm>
          <a:prstGeom prst="chevron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20440" y="1325880"/>
            <a:ext cx="233172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325880"/>
            <a:ext cx="73152" cy="150876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472184"/>
            <a:ext cx="196596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Power Query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dirty="0"/>
              <a:t>Clean &amp; transform</a:t>
            </a:r>
          </a:p>
        </p:txBody>
      </p:sp>
      <p:sp>
        <p:nvSpPr>
          <p:cNvPr id="12" name="Chevron 11"/>
          <p:cNvSpPr/>
          <p:nvPr/>
        </p:nvSpPr>
        <p:spPr>
          <a:xfrm>
            <a:off x="5943600" y="1810512"/>
            <a:ext cx="320040" cy="502920"/>
          </a:xfrm>
          <a:prstGeom prst="chevron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1325880"/>
            <a:ext cx="233172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325880"/>
            <a:ext cx="73152" cy="1508760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472184"/>
            <a:ext cx="196596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Power BI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dirty="0"/>
              <a:t>Model &amp; visualize</a:t>
            </a:r>
          </a:p>
        </p:txBody>
      </p:sp>
      <p:sp>
        <p:nvSpPr>
          <p:cNvPr id="16" name="Chevron 15"/>
          <p:cNvSpPr/>
          <p:nvPr/>
        </p:nvSpPr>
        <p:spPr>
          <a:xfrm>
            <a:off x="8778240" y="1810512"/>
            <a:ext cx="320040" cy="502920"/>
          </a:xfrm>
          <a:prstGeom prst="chevron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89720" y="1325880"/>
            <a:ext cx="233172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325880"/>
            <a:ext cx="73152" cy="1508760"/>
          </a:xfrm>
          <a:prstGeom prst="rect">
            <a:avLst/>
          </a:prstGeom>
          <a:solidFill>
            <a:srgbClr val="25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0888" y="1472184"/>
            <a:ext cx="196596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DAX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dirty="0"/>
              <a:t>Calculate measures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246120"/>
            <a:ext cx="32461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3246120"/>
            <a:ext cx="73152" cy="182880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3392424"/>
            <a:ext cx="2880360" cy="1756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dirty="0"/>
              <a:t>DAX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Data Analysis Expressions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Formula language used in Power BI to create calculated measures and columns.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46120"/>
            <a:ext cx="64922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246120"/>
            <a:ext cx="73152" cy="182880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11052" y="3392424"/>
            <a:ext cx="6126479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400" dirty="0"/>
              <a:t>Measures used in this project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dirty="0"/>
              <a:t>Total Patients</a:t>
            </a:r>
            <a:endParaRPr lang="en-US" sz="140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dirty="0"/>
              <a:t>Average Age</a:t>
            </a:r>
            <a:endParaRPr lang="en-US" sz="140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dirty="0"/>
              <a:t>Total Billing Amount</a:t>
            </a:r>
            <a:endParaRPr lang="en-US" sz="140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dirty="0"/>
              <a:t>Average Billing Amount</a:t>
            </a:r>
            <a:endParaRPr lang="en-US" sz="1400" dirty="0"/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dirty="0"/>
              <a:t>Average Length of Stay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71616"/>
            <a:ext cx="215123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26F7E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8345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Key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64592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t>Total Patients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t>55,500 (≈56K)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42900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164592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472184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t>Average Age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t>51.54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342900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73152" cy="1645920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8" y="1472184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t>Total Billing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t>1.42 billion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342900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383280"/>
            <a:ext cx="73152" cy="1645920"/>
          </a:xfrm>
          <a:prstGeom prst="rect">
            <a:avLst/>
          </a:prstGeom>
          <a:solidFill>
            <a:srgbClr val="25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529584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t>Average Billing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t>25.54K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383280"/>
            <a:ext cx="342900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3383280"/>
            <a:ext cx="73152" cy="164592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6008" y="3529584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t>Average Length of Stay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t>15.51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83280"/>
            <a:ext cx="342900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383280"/>
            <a:ext cx="73152" cy="164592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0768" y="3529584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t>Hospital KPI shown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t>40K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7243" y="300916"/>
            <a:ext cx="429592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 </a:t>
            </a:r>
            <a:r>
              <a:rPr u="sng" dirty="0"/>
              <a:t>Patient Demographic Analysis</a:t>
            </a:r>
          </a:p>
        </p:txBody>
      </p:sp>
      <p:pic>
        <p:nvPicPr>
          <p:cNvPr id="5" name="Picture 4" descr="image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941" y="1326995"/>
            <a:ext cx="6196141" cy="3856935"/>
          </a:xfrm>
          <a:prstGeom prst="rect">
            <a:avLst/>
          </a:prstGeom>
        </p:spPr>
      </p:pic>
      <p:pic>
        <p:nvPicPr>
          <p:cNvPr id="6" name="Picture 5" descr="image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985" y="1225297"/>
            <a:ext cx="5925014" cy="39110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57266" y="5429003"/>
            <a:ext cx="5212080" cy="1173046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7243" y="5671176"/>
            <a:ext cx="73152" cy="68580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" y="5349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dirty="0"/>
              <a:t>Key finding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Adults and older adults form the larger age-group categories shown.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043" y="5429002"/>
            <a:ext cx="5359713" cy="1182946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6191" y="5615461"/>
            <a:ext cx="73152" cy="68580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0732" y="5578332"/>
            <a:ext cx="5014024" cy="1033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dirty="0"/>
              <a:t>Gender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Male 50.04% | Female 49.96%  nearly equal.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93498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 Medical Condition Analysis</a:t>
            </a:r>
          </a:p>
        </p:txBody>
      </p:sp>
      <p:pic>
        <p:nvPicPr>
          <p:cNvPr id="5" name="Picture 4" descr="image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90" y="1387438"/>
            <a:ext cx="6764330" cy="39762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325880"/>
            <a:ext cx="4023360" cy="1517904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1325880"/>
            <a:ext cx="73152" cy="141732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07808" y="1472184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t>Patient counts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t>Counts across the displayed conditions are relatively close.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971800"/>
            <a:ext cx="40233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06640" y="2971800"/>
            <a:ext cx="73152" cy="141732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07808" y="3118104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t>Higher-count conditions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t>Arthritis and Diabetes are among the higher counts shown.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617719"/>
            <a:ext cx="4145280" cy="1567641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4617720"/>
            <a:ext cx="73152" cy="960120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07808" y="476402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dirty="0"/>
              <a:t>Lower-count condition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Asthma is the lowest among the conditions shown in this chart.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9099" y="300186"/>
            <a:ext cx="223445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 Billing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438" y="1580240"/>
            <a:ext cx="3853861" cy="2231136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0044" y="1862653"/>
            <a:ext cx="73152" cy="164592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637891"/>
            <a:ext cx="3643103" cy="2095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dirty="0"/>
              <a:t>Average billing by admission type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Elective, Urgent and Emergency admissions are very similar, each around one-third of the displayed distribution.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1E5300A-D338-4054-8AE3-C8C21E3E9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039" y="624468"/>
            <a:ext cx="7844809" cy="513180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3444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 </a:t>
            </a:r>
            <a:r>
              <a:rPr u="sng" dirty="0"/>
              <a:t>Billing Amount vs Length of Stay</a:t>
            </a:r>
          </a:p>
        </p:txBody>
      </p:sp>
      <p:pic>
        <p:nvPicPr>
          <p:cNvPr id="5" name="Picture 4" descr="image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1" y="1115122"/>
            <a:ext cx="6701882" cy="51741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08917" y="288447"/>
            <a:ext cx="4950678" cy="1516739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flipH="1">
            <a:off x="7215324" y="353266"/>
            <a:ext cx="46733" cy="1387559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59443" y="308013"/>
            <a:ext cx="4777961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dirty="0"/>
              <a:t>Observed pattern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The trendline slopes upward, indicating a positive relationship in the aggregated data shown.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08917" y="2001558"/>
            <a:ext cx="4950678" cy="1518033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flipH="1">
            <a:off x="7156407" y="2197931"/>
            <a:ext cx="80289" cy="1125286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2058" y="2054223"/>
            <a:ext cx="4725504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dirty="0"/>
              <a:t>Interpretation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Higher billing amounts tend to occur alongside higher lengths of stay in the displayed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08917" y="3686024"/>
            <a:ext cx="4732563" cy="2977444"/>
          </a:xfrm>
          <a:prstGeom prst="roundRect">
            <a:avLst>
              <a:gd name="adj" fmla="val 8901"/>
            </a:avLst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7220513" y="4035972"/>
            <a:ext cx="45719" cy="2468761"/>
          </a:xfrm>
          <a:prstGeom prst="rect">
            <a:avLst/>
          </a:prstGeom>
          <a:solidFill>
            <a:srgbClr val="E5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7829" y="3844759"/>
            <a:ext cx="432018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lang="en-US" sz="1600" dirty="0">
                <a:latin typeface="Aptos Display"/>
              </a:rPr>
              <a:t>Not Every Case Follows the Trend:</a:t>
            </a:r>
          </a:p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lang="en-US" sz="1600" dirty="0">
                <a:latin typeface="Aptos Display"/>
              </a:rPr>
              <a:t>Some data points fall significantly above or below the trend line, showing that other factors may also influence billing costs and length of stay.</a:t>
            </a:r>
          </a:p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lang="en-US" sz="1600" dirty="0">
                <a:latin typeface="Aptos Display"/>
              </a:rPr>
              <a:t>Possible Factors to Explore Further: These variations could be influenced by factors such as:</a:t>
            </a:r>
          </a:p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lang="en-US" sz="1600" dirty="0">
                <a:latin typeface="Aptos Display"/>
              </a:rPr>
              <a:t> Medical condition* Type of treatment* Hospital charges* </a:t>
            </a:r>
          </a:p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lang="en-US" sz="1600" dirty="0">
                <a:latin typeface="Aptos Display"/>
              </a:rPr>
              <a:t>Patient demographics</a:t>
            </a:r>
          </a:p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lang="en-US" sz="1600" dirty="0">
                <a:latin typeface="Aptos Display"/>
              </a:rPr>
              <a:t>* Severity of illness</a:t>
            </a:r>
            <a:endParaRPr sz="1600" dirty="0">
              <a:latin typeface="Aptos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09" y="21546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5150" y="230308"/>
            <a:ext cx="483382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Admission Trends &amp; Top Hospitals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079" y="751532"/>
            <a:ext cx="5768600" cy="2803333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9364" y="1425168"/>
            <a:ext cx="101661" cy="1997183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0195" y="751532"/>
            <a:ext cx="5835805" cy="28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400" dirty="0"/>
              <a:t>Admission month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August — 4,832 (highest shown)July — 4,812\June — 4,699\January — 4,692\October — 4,678\March — 4,672\December — 4,649\May — 4,599\November — 4,548\September — 4,546\April — 4,518\February — 4,255 (lowest shown)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7323" y="751532"/>
            <a:ext cx="5768598" cy="2520636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flipH="1">
            <a:off x="6372105" y="1231151"/>
            <a:ext cx="73151" cy="1870034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1" y="1231151"/>
            <a:ext cx="5256684" cy="146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Top 6 hospitals by patients shown</a:t>
            </a:r>
          </a:p>
          <a:p>
            <a:pPr>
              <a:spcBef>
                <a:spcPts val="500"/>
              </a:spcBef>
              <a:defRPr sz="23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LLC Smith — 44\Ltd Smith — 39\Johnson PLC — 38\Smith Ltd — 37\Smith PLC — 36\Smith Group —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D6BD9C-4BFA-4F85-AA31-340A15C80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4866"/>
            <a:ext cx="4663544" cy="34301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E194DF-E051-4D60-B085-305647AF5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579246"/>
            <a:ext cx="6720308" cy="325720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45480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 Interactive Power BI Dashboard</a:t>
            </a:r>
          </a:p>
        </p:txBody>
      </p:sp>
      <p:pic>
        <p:nvPicPr>
          <p:cNvPr id="5" name="Picture 4" descr="ccbaee75-4186-4e23-a0ca-2e9cf8c301a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48" y="1051560"/>
            <a:ext cx="10037380" cy="5166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83210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dirty="0"/>
              <a:t> </a:t>
            </a:r>
            <a:r>
              <a:rPr u="sng" dirty="0"/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2578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73152" cy="100584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289304"/>
            <a:ext cx="489204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Patient volume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55,500 patients are represented in the dataset; the KPI displays this as approximately 56K</a:t>
            </a:r>
            <a:r>
              <a:rPr sz="140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578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73152" cy="100584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289304"/>
            <a:ext cx="489204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Demographics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Average age is 51.54 years and gender distribution is almost evenly split.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561" y="2389550"/>
            <a:ext cx="52578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377440"/>
            <a:ext cx="73152" cy="100584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491810"/>
            <a:ext cx="489204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Medical conditions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Patient counts across the displayed conditions are relatively similar.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77440"/>
            <a:ext cx="52578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2377440"/>
            <a:ext cx="73152" cy="100584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2523744"/>
            <a:ext cx="489204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Billing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Total billing is 1.42 billion and average billing is 25.54K</a:t>
            </a:r>
            <a:r>
              <a:rPr sz="1400"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52578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11880"/>
            <a:ext cx="73152" cy="100584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823758"/>
            <a:ext cx="489204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Length of stay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Average length of stay is 15.51.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11880"/>
            <a:ext cx="52578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611880"/>
            <a:ext cx="73152" cy="100584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7" y="3758184"/>
            <a:ext cx="489204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Admissions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August has the highest displayed admissions (4,832); February has the lowest (4,255).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46320"/>
            <a:ext cx="525780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846320"/>
            <a:ext cx="73152" cy="100584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992624"/>
            <a:ext cx="489204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Relationship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1400" b="1" dirty="0"/>
              <a:t>Billing amount and length of stay show a positive trend in the displayed aggregated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279826"/>
            <a:ext cx="274671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Recommendations</a:t>
            </a:r>
            <a:r>
              <a:rPr dirty="0"/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961" y="1044122"/>
            <a:ext cx="9469294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287598"/>
            <a:ext cx="73152" cy="421709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289304"/>
            <a:ext cx="8860222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400" dirty="0"/>
              <a:t>RECOMMENDATIONS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1. Use demographic and condition patterns to support resource planning.</a:t>
            </a:r>
            <a:endParaRPr lang="en-US" sz="2400" b="1" dirty="0"/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2. Use admission trends to support staffing and capacity planning.</a:t>
            </a:r>
            <a:endParaRPr lang="en-US" sz="2400" b="1" dirty="0"/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3. Monitor billing and length-of-stay patterns for operational and financial insight.</a:t>
            </a:r>
            <a:endParaRPr lang="en-US" sz="2400" b="1" dirty="0"/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400" b="1" dirty="0"/>
              <a:t>4. Continue using interactive dashboards to communicate healthcare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30294"/>
            <a:ext cx="163538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 Display"/>
              </a:defRPr>
            </a:pPr>
            <a:r>
              <a:rPr u="sng" dirty="0"/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1037844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73152" cy="1920240"/>
          </a:xfrm>
          <a:prstGeom prst="rect">
            <a:avLst/>
          </a:prstGeom>
          <a:solidFill>
            <a:srgbClr val="00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728426"/>
            <a:ext cx="1001268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Conclusion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000" dirty="0"/>
              <a:t>This project demonstrates how healthcare data can be transformed into meaningful insights through data cleaning, transformation, DAX calculations, visualization and dashboard development.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7992" y="3638202"/>
            <a:ext cx="103784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73152" cy="1325880"/>
          </a:xfrm>
          <a:prstGeom prst="rect">
            <a:avLst/>
          </a:prstGeom>
          <a:solidFill>
            <a:srgbClr val="2A7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3803904"/>
            <a:ext cx="1001268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26F7E"/>
                </a:solidFill>
                <a:latin typeface="Aptos"/>
              </a:defRPr>
            </a:pPr>
            <a:r>
              <a:rPr sz="1600" dirty="0"/>
              <a:t>Project outcome</a:t>
            </a:r>
          </a:p>
          <a:p>
            <a:pPr>
              <a:spcBef>
                <a:spcPts val="600"/>
              </a:spcBef>
              <a:defRPr sz="1100">
                <a:solidFill>
                  <a:srgbClr val="1C2430"/>
                </a:solidFill>
                <a:latin typeface="Aptos"/>
              </a:defRPr>
            </a:pPr>
            <a:r>
              <a:rPr sz="2000" dirty="0"/>
              <a:t>The resulting Power BI dashboard provides an interactive view of patient demographics, medical conditions, billing, length of stay and admission trends.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625" y="641908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2B4A"/>
                </a:solidFill>
                <a:latin typeface="Aptos Display"/>
              </a:defRPr>
            </a:pPr>
            <a:r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947</Words>
  <Application>Microsoft Office PowerPoint</Application>
  <PresentationFormat>Widescreen</PresentationFormat>
  <Paragraphs>165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16</cp:revision>
  <dcterms:created xsi:type="dcterms:W3CDTF">2013-01-27T09:14:16Z</dcterms:created>
  <dcterms:modified xsi:type="dcterms:W3CDTF">2026-10-01T17:21:19Z</dcterms:modified>
  <cp:category/>
</cp:coreProperties>
</file>